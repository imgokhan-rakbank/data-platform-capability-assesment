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4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286EE5-7D30-4D68-893A-E75E1CE969E1}" v="4" dt="2026-04-12T08:15:35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27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khan Imral" userId="77b81faa-e519-466a-ba00-b6979006b416" providerId="ADAL" clId="{A789C245-2F08-4943-A355-DA72E2C242E0}"/>
    <pc:docChg chg="undo custSel modSld">
      <pc:chgData name="Gokhan Imral" userId="77b81faa-e519-466a-ba00-b6979006b416" providerId="ADAL" clId="{A789C245-2F08-4943-A355-DA72E2C242E0}" dt="2026-04-12T10:20:22.522" v="1000" actId="20577"/>
      <pc:docMkLst>
        <pc:docMk/>
      </pc:docMkLst>
      <pc:sldChg chg="modSp mod">
        <pc:chgData name="Gokhan Imral" userId="77b81faa-e519-466a-ba00-b6979006b416" providerId="ADAL" clId="{A789C245-2F08-4943-A355-DA72E2C242E0}" dt="2026-04-12T09:48:51.679" v="745" actId="20577"/>
        <pc:sldMkLst>
          <pc:docMk/>
          <pc:sldMk cId="0" sldId="258"/>
        </pc:sldMkLst>
        <pc:spChg chg="mod">
          <ac:chgData name="Gokhan Imral" userId="77b81faa-e519-466a-ba00-b6979006b416" providerId="ADAL" clId="{A789C245-2F08-4943-A355-DA72E2C242E0}" dt="2026-04-12T09:48:51.679" v="745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10:18:06.699" v="999" actId="108"/>
        <pc:sldMkLst>
          <pc:docMk/>
          <pc:sldMk cId="0" sldId="259"/>
        </pc:sldMkLst>
        <pc:spChg chg="mod">
          <ac:chgData name="Gokhan Imral" userId="77b81faa-e519-466a-ba00-b6979006b416" providerId="ADAL" clId="{A789C245-2F08-4943-A355-DA72E2C242E0}" dt="2026-04-12T09:56:39.385" v="894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19:13.372" v="0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19:13.372" v="0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19:13.372" v="0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19:13.372" v="0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5:48.345" v="888" actId="108"/>
          <ac:spMkLst>
            <pc:docMk/>
            <pc:sldMk cId="0" sldId="259"/>
            <ac:spMk id="18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5:51.272" v="890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19:13.372" v="0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10:18:06.699" v="999" actId="108"/>
          <ac:spMkLst>
            <pc:docMk/>
            <pc:sldMk cId="0" sldId="259"/>
            <ac:spMk id="26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10:18:01.307" v="998" actId="20577"/>
          <ac:spMkLst>
            <pc:docMk/>
            <pc:sldMk cId="0" sldId="259"/>
            <ac:spMk id="27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36:25.381" v="319" actId="108"/>
          <ac:spMkLst>
            <pc:docMk/>
            <pc:sldMk cId="0" sldId="259"/>
            <ac:spMk id="30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36:29.782" v="321" actId="2057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19:13.372" v="0" actId="107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5:45.877" v="887" actId="108"/>
          <ac:spMkLst>
            <pc:docMk/>
            <pc:sldMk cId="0" sldId="259"/>
            <ac:spMk id="34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5:53.885" v="892" actId="20577"/>
          <ac:spMkLst>
            <pc:docMk/>
            <pc:sldMk cId="0" sldId="259"/>
            <ac:spMk id="35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10:16:58.684" v="991" actId="108"/>
        <pc:sldMkLst>
          <pc:docMk/>
          <pc:sldMk cId="0" sldId="260"/>
        </pc:sldMkLst>
        <pc:spChg chg="mod">
          <ac:chgData name="Gokhan Imral" userId="77b81faa-e519-466a-ba00-b6979006b416" providerId="ADAL" clId="{A789C245-2F08-4943-A355-DA72E2C242E0}" dt="2026-04-12T09:53:39.731" v="865" actId="108"/>
          <ac:spMkLst>
            <pc:docMk/>
            <pc:sldMk cId="0" sldId="260"/>
            <ac:spMk id="23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3:28.682" v="862" actId="108"/>
          <ac:spMkLst>
            <pc:docMk/>
            <pc:sldMk cId="0" sldId="260"/>
            <ac:spMk id="25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4:22.105" v="878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4:15.571" v="872" actId="20577"/>
          <ac:spMkLst>
            <pc:docMk/>
            <pc:sldMk cId="0" sldId="260"/>
            <ac:spMk id="31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10:16:58.684" v="991" actId="108"/>
          <ac:spMkLst>
            <pc:docMk/>
            <pc:sldMk cId="0" sldId="260"/>
            <ac:spMk id="32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10:16:45.158" v="988" actId="108"/>
          <ac:spMkLst>
            <pc:docMk/>
            <pc:sldMk cId="0" sldId="260"/>
            <ac:spMk id="34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3:53.409" v="866" actId="108"/>
          <ac:spMkLst>
            <pc:docMk/>
            <pc:sldMk cId="0" sldId="260"/>
            <ac:spMk id="37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34:31.279" v="314" actId="108"/>
          <ac:spMkLst>
            <pc:docMk/>
            <pc:sldMk cId="0" sldId="260"/>
            <ac:spMk id="40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5:27.148" v="884" actId="108"/>
          <ac:spMkLst>
            <pc:docMk/>
            <pc:sldMk cId="0" sldId="260"/>
            <ac:spMk id="41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5:11.234" v="881" actId="108"/>
          <ac:spMkLst>
            <pc:docMk/>
            <pc:sldMk cId="0" sldId="260"/>
            <ac:spMk id="43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19:45.989" v="2" actId="1076"/>
          <ac:spMkLst>
            <pc:docMk/>
            <pc:sldMk cId="0" sldId="260"/>
            <ac:spMk id="45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19:45.989" v="2" actId="1076"/>
          <ac:spMkLst>
            <pc:docMk/>
            <pc:sldMk cId="0" sldId="260"/>
            <ac:spMk id="46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19:45.989" v="2" actId="1076"/>
          <ac:spMkLst>
            <pc:docMk/>
            <pc:sldMk cId="0" sldId="260"/>
            <ac:spMk id="47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19:45.989" v="2" actId="1076"/>
          <ac:spMkLst>
            <pc:docMk/>
            <pc:sldMk cId="0" sldId="260"/>
            <ac:spMk id="48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7:19:45.989" v="2" actId="1076"/>
          <ac:spMkLst>
            <pc:docMk/>
            <pc:sldMk cId="0" sldId="260"/>
            <ac:spMk id="49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10:20:22.522" v="1000" actId="20577"/>
        <pc:sldMkLst>
          <pc:docMk/>
          <pc:sldMk cId="0" sldId="261"/>
        </pc:sldMkLst>
        <pc:spChg chg="mod">
          <ac:chgData name="Gokhan Imral" userId="77b81faa-e519-466a-ba00-b6979006b416" providerId="ADAL" clId="{A789C245-2F08-4943-A355-DA72E2C242E0}" dt="2026-04-12T10:20:22.522" v="1000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09:50:55.700" v="831" actId="20577"/>
        <pc:sldMkLst>
          <pc:docMk/>
          <pc:sldMk cId="0" sldId="262"/>
        </pc:sldMkLst>
        <pc:spChg chg="mod">
          <ac:chgData name="Gokhan Imral" userId="77b81faa-e519-466a-ba00-b6979006b416" providerId="ADAL" clId="{A789C245-2F08-4943-A355-DA72E2C242E0}" dt="2026-04-12T09:50:55.700" v="831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8:18:48.270" v="534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09:51:12.193" v="834" actId="20577"/>
        <pc:sldMkLst>
          <pc:docMk/>
          <pc:sldMk cId="0" sldId="263"/>
        </pc:sldMkLst>
        <pc:spChg chg="mod">
          <ac:chgData name="Gokhan Imral" userId="77b81faa-e519-466a-ba00-b6979006b416" providerId="ADAL" clId="{A789C245-2F08-4943-A355-DA72E2C242E0}" dt="2026-04-12T09:51:12.193" v="834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8:22:13.790" v="729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09:52:22.037" v="848" actId="12"/>
        <pc:sldMkLst>
          <pc:docMk/>
          <pc:sldMk cId="0" sldId="264"/>
        </pc:sldMkLst>
        <pc:spChg chg="mod">
          <ac:chgData name="Gokhan Imral" userId="77b81faa-e519-466a-ba00-b6979006b416" providerId="ADAL" clId="{A789C245-2F08-4943-A355-DA72E2C242E0}" dt="2026-04-12T09:51:24.766" v="837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2:22.037" v="848" actId="12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09:57:01.692" v="903" actId="12"/>
        <pc:sldMkLst>
          <pc:docMk/>
          <pc:sldMk cId="0" sldId="265"/>
        </pc:sldMkLst>
        <pc:spChg chg="mod">
          <ac:chgData name="Gokhan Imral" userId="77b81faa-e519-466a-ba00-b6979006b416" providerId="ADAL" clId="{A789C245-2F08-4943-A355-DA72E2C242E0}" dt="2026-04-12T09:52:42.266" v="853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7:01.692" v="903" actId="12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09:59:53.412" v="968" actId="20577"/>
        <pc:sldMkLst>
          <pc:docMk/>
          <pc:sldMk cId="0" sldId="266"/>
        </pc:sldMkLst>
        <pc:spChg chg="mod">
          <ac:chgData name="Gokhan Imral" userId="77b81faa-e519-466a-ba00-b6979006b416" providerId="ADAL" clId="{A789C245-2F08-4943-A355-DA72E2C242E0}" dt="2026-04-12T09:59:53.412" v="968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7:17.745" v="915" actId="12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10:17:07.917" v="995" actId="20577"/>
        <pc:sldMkLst>
          <pc:docMk/>
          <pc:sldMk cId="0" sldId="267"/>
        </pc:sldMkLst>
        <pc:spChg chg="mod">
          <ac:chgData name="Gokhan Imral" userId="77b81faa-e519-466a-ba00-b6979006b416" providerId="ADAL" clId="{A789C245-2F08-4943-A355-DA72E2C242E0}" dt="2026-04-12T10:17:07.917" v="995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7:35.608" v="926" actId="12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10:00:08.194" v="978" actId="20577"/>
        <pc:sldMkLst>
          <pc:docMk/>
          <pc:sldMk cId="0" sldId="268"/>
        </pc:sldMkLst>
        <pc:spChg chg="mod">
          <ac:chgData name="Gokhan Imral" userId="77b81faa-e519-466a-ba00-b6979006b416" providerId="ADAL" clId="{A789C245-2F08-4943-A355-DA72E2C242E0}" dt="2026-04-12T10:00:08.194" v="978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8:19.299" v="938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10:00:19.324" v="985" actId="20577"/>
        <pc:sldMkLst>
          <pc:docMk/>
          <pc:sldMk cId="0" sldId="269"/>
        </pc:sldMkLst>
        <pc:spChg chg="mod">
          <ac:chgData name="Gokhan Imral" userId="77b81faa-e519-466a-ba00-b6979006b416" providerId="ADAL" clId="{A789C245-2F08-4943-A355-DA72E2C242E0}" dt="2026-04-12T10:00:19.324" v="985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Gokhan Imral" userId="77b81faa-e519-466a-ba00-b6979006b416" providerId="ADAL" clId="{A789C245-2F08-4943-A355-DA72E2C242E0}" dt="2026-04-12T09:59:00.601" v="965" actId="12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08:16:02.178" v="464" actId="20577"/>
        <pc:sldMkLst>
          <pc:docMk/>
          <pc:sldMk cId="0" sldId="270"/>
        </pc:sldMkLst>
        <pc:spChg chg="mod">
          <ac:chgData name="Gokhan Imral" userId="77b81faa-e519-466a-ba00-b6979006b416" providerId="ADAL" clId="{A789C245-2F08-4943-A355-DA72E2C242E0}" dt="2026-04-12T08:16:02.178" v="464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Gokhan Imral" userId="77b81faa-e519-466a-ba00-b6979006b416" providerId="ADAL" clId="{A789C245-2F08-4943-A355-DA72E2C242E0}" dt="2026-04-12T08:17:09.832" v="509" actId="313"/>
        <pc:sldMkLst>
          <pc:docMk/>
          <pc:sldMk cId="0" sldId="271"/>
        </pc:sldMkLst>
        <pc:spChg chg="mod">
          <ac:chgData name="Gokhan Imral" userId="77b81faa-e519-466a-ba00-b6979006b416" providerId="ADAL" clId="{A789C245-2F08-4943-A355-DA72E2C242E0}" dt="2026-04-12T08:17:09.832" v="509" actId="313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8.emf"/><Relationship Id="rId5" Type="http://schemas.openxmlformats.org/officeDocument/2006/relationships/image" Target="../media/image7.jpe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6" Type="http://schemas.openxmlformats.org/officeDocument/2006/relationships/image" Target="../media/image8.emf"/><Relationship Id="rId5" Type="http://schemas.openxmlformats.org/officeDocument/2006/relationships/image" Target="../media/image7.jpe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2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22.bin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2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2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"/>
            <a:ext cx="12188825" cy="6857433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 bwMode="auto">
          <a:xfrm>
            <a:off x="1" y="1809000"/>
            <a:ext cx="12188825" cy="3240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62" tIns="34281" rIns="68562" bIns="34281" numCol="1" rtlCol="0" anchor="ctr" anchorCtr="0" compatLnSpc="1">
            <a:prstTxWarp prst="textNoShape">
              <a:avLst/>
            </a:prstTxWarp>
          </a:bodyPr>
          <a:lstStyle/>
          <a:p>
            <a:pPr algn="ctr" defTabSz="685594" fontAlgn="base">
              <a:spcBef>
                <a:spcPct val="0"/>
              </a:spcBef>
              <a:spcAft>
                <a:spcPct val="0"/>
              </a:spcAft>
            </a:pPr>
            <a:endParaRPr lang="en-GB" sz="1425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2539339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3CE4FC1-9BFD-4D71-B62C-EB069A42157A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6497" y="2390403"/>
            <a:ext cx="11612975" cy="1918823"/>
          </a:xfrm>
          <a:prstGeom prst="rect">
            <a:avLst/>
          </a:prstGeom>
        </p:spPr>
        <p:txBody>
          <a:bodyPr anchor="ctr"/>
          <a:lstStyle>
            <a:lvl1pPr algn="l">
              <a:defRPr sz="2799" b="1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496" y="5140422"/>
            <a:ext cx="5086675" cy="108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defRPr>
            </a:lvl1pPr>
            <a:lvl2pPr marL="342797" indent="0" algn="ctr">
              <a:buNone/>
              <a:defRPr/>
            </a:lvl2pPr>
            <a:lvl3pPr marL="685594" indent="0" algn="ctr">
              <a:buNone/>
              <a:defRPr/>
            </a:lvl3pPr>
            <a:lvl4pPr marL="1028391" indent="0" algn="ctr">
              <a:buNone/>
              <a:defRPr/>
            </a:lvl4pPr>
            <a:lvl5pPr marL="1371189" indent="0" algn="ctr">
              <a:buNone/>
              <a:defRPr/>
            </a:lvl5pPr>
            <a:lvl6pPr marL="1713986" indent="0" algn="ctr">
              <a:buNone/>
              <a:defRPr/>
            </a:lvl6pPr>
            <a:lvl7pPr marL="2056783" indent="0" algn="ctr">
              <a:buNone/>
              <a:defRPr/>
            </a:lvl7pPr>
            <a:lvl8pPr marL="2399580" indent="0" algn="ctr">
              <a:buNone/>
              <a:defRPr/>
            </a:lvl8pPr>
            <a:lvl9pPr marL="274237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5103333" y="6755907"/>
            <a:ext cx="2924429" cy="10209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62" tIns="34281" rIns="68562" bIns="34281" numCol="1" rtlCol="0" anchor="ctr" anchorCtr="0" compatLnSpc="1">
            <a:prstTxWarp prst="textNoShape">
              <a:avLst/>
            </a:prstTxWarp>
          </a:bodyPr>
          <a:lstStyle/>
          <a:p>
            <a:pPr algn="ctr" defTabSz="685594" fontAlgn="base">
              <a:spcBef>
                <a:spcPct val="0"/>
              </a:spcBef>
              <a:spcAft>
                <a:spcPct val="0"/>
              </a:spcAft>
            </a:pPr>
            <a:endParaRPr lang="en-GB" sz="900">
              <a:solidFill>
                <a:srgbClr val="2D2926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27549" y="526501"/>
            <a:ext cx="2875684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43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899">
              <a:solidFill>
                <a:srgbClr val="2D2926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602" y="477839"/>
            <a:ext cx="5574224" cy="5543451"/>
          </a:xfrm>
          <a:prstGeom prst="rect">
            <a:avLst/>
          </a:prstGeom>
        </p:spPr>
      </p:pic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39123" y="1964568"/>
            <a:ext cx="11710583" cy="65091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3" y="2181578"/>
            <a:ext cx="11710583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199" b="1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23" y="1266924"/>
            <a:ext cx="11710583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799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19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583542" y="1178585"/>
            <a:ext cx="7605284" cy="2547334"/>
            <a:chOff x="4242374" y="1266924"/>
            <a:chExt cx="7607265" cy="1277860"/>
          </a:xfrm>
        </p:grpSpPr>
        <p:pic>
          <p:nvPicPr>
            <p:cNvPr id="15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88"/>
            <a:stretch/>
          </p:blipFill>
          <p:spPr bwMode="auto">
            <a:xfrm>
              <a:off x="7458055" y="1266924"/>
              <a:ext cx="4049222" cy="692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7157" b="17268"/>
            <a:stretch/>
          </p:blipFill>
          <p:spPr bwMode="auto">
            <a:xfrm>
              <a:off x="4242374" y="1266924"/>
              <a:ext cx="3215680" cy="127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873398" y="1505214"/>
              <a:ext cx="616085" cy="38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88" b="7541"/>
            <a:stretch/>
          </p:blipFill>
          <p:spPr bwMode="auto">
            <a:xfrm>
              <a:off x="6747364" y="1904828"/>
              <a:ext cx="4049222" cy="639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9746" b="50292"/>
            <a:stretch/>
          </p:blipFill>
          <p:spPr bwMode="auto">
            <a:xfrm>
              <a:off x="10181088" y="2094605"/>
              <a:ext cx="526195" cy="28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1005120" y="1266924"/>
              <a:ext cx="844519" cy="127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662759" y="1724108"/>
              <a:ext cx="1186880" cy="820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2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83" r="99340" b="31624"/>
          <a:stretch/>
        </p:blipFill>
        <p:spPr bwMode="auto">
          <a:xfrm>
            <a:off x="0" y="1178585"/>
            <a:ext cx="4646921" cy="2547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899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3" y="2181578"/>
            <a:ext cx="8733864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199" b="1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23" y="1266924"/>
            <a:ext cx="8733864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799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6" r="76604" b="25471"/>
          <a:stretch/>
        </p:blipFill>
        <p:spPr bwMode="auto">
          <a:xfrm>
            <a:off x="11396131" y="3113148"/>
            <a:ext cx="627530" cy="531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" name="Straight Connector 34"/>
          <p:cNvCxnSpPr/>
          <p:nvPr/>
        </p:nvCxnSpPr>
        <p:spPr bwMode="auto">
          <a:xfrm>
            <a:off x="239122" y="2006353"/>
            <a:ext cx="8872841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50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Box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2" y="836712"/>
            <a:ext cx="11326474" cy="1655762"/>
          </a:xfrm>
          <a:prstGeom prst="rect">
            <a:avLst/>
          </a:prstGeom>
        </p:spPr>
        <p:txBody>
          <a:bodyPr/>
          <a:lstStyle>
            <a:lvl1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 kumimoji="0" lang="en-US" sz="1799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  <a:lvl2pPr marL="742727" marR="0" indent="-285664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2pPr>
            <a:lvl3pPr marL="1142657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•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3pPr>
            <a:lvl4pPr marL="1599720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4pPr>
            <a:lvl5pPr marL="2056783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»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5pPr>
            <a:lvl6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6pPr>
            <a:lvl8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8pPr>
            <a:lvl9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9pPr>
          </a:lstStyle>
          <a:p>
            <a:pPr marL="342797" marR="0" lvl="0" indent="-342797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Edit Master text styles</a:t>
            </a:r>
          </a:p>
          <a:p>
            <a:pPr marL="742727" marR="0" lvl="1" indent="-285664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1142657" marR="0" lvl="2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1599720" marR="0" lvl="3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marL="2056783" marR="0" lvl="4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Fifth level</a:t>
            </a:r>
          </a:p>
          <a:p>
            <a:pPr marL="2513846" marR="0" lvl="5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six</a:t>
            </a:r>
          </a:p>
          <a:p>
            <a:pPr marL="0" marR="0" lvl="5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Level seven</a:t>
            </a:r>
          </a:p>
          <a:p>
            <a:pPr marL="0" marR="0" lvl="7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Level eight</a:t>
            </a:r>
          </a:p>
          <a:p>
            <a:pPr marL="0" marR="0" lvl="8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nine</a:t>
            </a:r>
          </a:p>
        </p:txBody>
      </p:sp>
    </p:spTree>
    <p:extLst>
      <p:ext uri="{BB962C8B-B14F-4D97-AF65-F5344CB8AC3E}">
        <p14:creationId xmlns:p14="http://schemas.microsoft.com/office/powerpoint/2010/main" val="106020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52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28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51" y="686328"/>
            <a:ext cx="10273211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7297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9830553" y="6368498"/>
            <a:ext cx="1722334" cy="4762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99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51" y="686328"/>
            <a:ext cx="10273211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820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12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>
              <a:solidFill>
                <a:srgbClr val="2D2926"/>
              </a:solidFill>
              <a:cs typeface="Times New Roman"/>
              <a:sym typeface="Calibri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78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899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667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143">
          <p15:clr>
            <a:srgbClr val="FBAE40"/>
          </p15:clr>
        </p15:guide>
        <p15:guide id="5" pos="753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4"/>
          <p:cNvSpPr/>
          <p:nvPr/>
        </p:nvSpPr>
        <p:spPr bwMode="ltGray">
          <a:xfrm>
            <a:off x="1524" y="1310"/>
            <a:ext cx="4087247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tx2"/>
              </a:gs>
              <a:gs pos="99000">
                <a:srgbClr val="AF4946"/>
              </a:gs>
              <a:gs pos="7900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9836" y="2764204"/>
            <a:ext cx="2477993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FooterSimple" hidden="1"/>
          <p:cNvSpPr txBox="1"/>
          <p:nvPr>
            <p:custDataLst>
              <p:tags r:id="rId1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Trebuchet MS" panose="020B0603020202020204" pitchFamily="34" charset="0"/>
              </a:rPr>
              <a:t>180211 RAKBANK Strategy 2018-2020_ExCo presentation_vF BSC.pptx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661582" y="6400800"/>
            <a:ext cx="527244" cy="457200"/>
          </a:xfrm>
        </p:spPr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54229" y="203199"/>
            <a:ext cx="7404711" cy="5943600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392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D. Two-Thirds">
    <p:bg>
      <p:bgPr>
        <a:gradFill>
          <a:gsLst>
            <a:gs pos="100000">
              <a:srgbClr val="C00000"/>
            </a:gs>
            <a:gs pos="8100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 bwMode="ltGray">
          <a:xfrm>
            <a:off x="4079701" y="-1309"/>
            <a:ext cx="8109125" cy="68593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11" name="FooterSimple" hidden="1"/>
          <p:cNvSpPr txBox="1"/>
          <p:nvPr>
            <p:custDataLst>
              <p:tags r:id="rId2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Trebuchet MS" panose="020B0603020202020204" pitchFamily="34" charset="0"/>
              </a:rPr>
              <a:t>180211 RAKBANK Strategy 2018-2020_ExCo presentation_vF BSC.pptx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661582" y="6400800"/>
            <a:ext cx="527244" cy="457200"/>
          </a:xfrm>
        </p:spPr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4"/>
          <p:cNvSpPr>
            <a:spLocks noGrp="1"/>
          </p:cNvSpPr>
          <p:nvPr>
            <p:ph type="title" hasCustomPrompt="1"/>
          </p:nvPr>
        </p:nvSpPr>
        <p:spPr>
          <a:xfrm>
            <a:off x="629836" y="2764204"/>
            <a:ext cx="2477993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54229" y="203199"/>
            <a:ext cx="7404711" cy="5943600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986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3397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2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2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"/>
            <a:ext cx="12188825" cy="6857433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 bwMode="auto">
          <a:xfrm>
            <a:off x="1" y="1809000"/>
            <a:ext cx="12188825" cy="3240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62" tIns="34281" rIns="68562" bIns="3428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5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25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2539339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3CE4FC1-9BFD-4D71-B62C-EB069A42157A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6497" y="2390403"/>
            <a:ext cx="11612975" cy="1918823"/>
          </a:xfrm>
          <a:prstGeom prst="rect">
            <a:avLst/>
          </a:prstGeom>
        </p:spPr>
        <p:txBody>
          <a:bodyPr anchor="ctr"/>
          <a:lstStyle>
            <a:lvl1pPr algn="l">
              <a:defRPr sz="2799" b="1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496" y="5140422"/>
            <a:ext cx="5086675" cy="108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defRPr>
            </a:lvl1pPr>
            <a:lvl2pPr marL="342797" indent="0" algn="ctr">
              <a:buNone/>
              <a:defRPr/>
            </a:lvl2pPr>
            <a:lvl3pPr marL="685594" indent="0" algn="ctr">
              <a:buNone/>
              <a:defRPr/>
            </a:lvl3pPr>
            <a:lvl4pPr marL="1028391" indent="0" algn="ctr">
              <a:buNone/>
              <a:defRPr/>
            </a:lvl4pPr>
            <a:lvl5pPr marL="1371189" indent="0" algn="ctr">
              <a:buNone/>
              <a:defRPr/>
            </a:lvl5pPr>
            <a:lvl6pPr marL="1713986" indent="0" algn="ctr">
              <a:buNone/>
              <a:defRPr/>
            </a:lvl6pPr>
            <a:lvl7pPr marL="2056783" indent="0" algn="ctr">
              <a:buNone/>
              <a:defRPr/>
            </a:lvl7pPr>
            <a:lvl8pPr marL="2399580" indent="0" algn="ctr">
              <a:buNone/>
              <a:defRPr/>
            </a:lvl8pPr>
            <a:lvl9pPr marL="274237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5103333" y="6755907"/>
            <a:ext cx="2924429" cy="10209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62" tIns="34281" rIns="68562" bIns="3428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5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27549" y="526501"/>
            <a:ext cx="2875684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25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039349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99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602" y="477839"/>
            <a:ext cx="5574224" cy="5543451"/>
          </a:xfrm>
          <a:prstGeom prst="rect">
            <a:avLst/>
          </a:prstGeom>
        </p:spPr>
      </p:pic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39123" y="1964568"/>
            <a:ext cx="11710583" cy="65091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3" y="2181578"/>
            <a:ext cx="11710583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199" b="1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23" y="1266924"/>
            <a:ext cx="11710583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799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032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2717904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583542" y="1178585"/>
            <a:ext cx="7605284" cy="2547334"/>
            <a:chOff x="4242374" y="1266924"/>
            <a:chExt cx="7607265" cy="1277860"/>
          </a:xfrm>
        </p:grpSpPr>
        <p:pic>
          <p:nvPicPr>
            <p:cNvPr id="15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88"/>
            <a:stretch/>
          </p:blipFill>
          <p:spPr bwMode="auto">
            <a:xfrm>
              <a:off x="7458055" y="1266924"/>
              <a:ext cx="4049222" cy="692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7157" b="17268"/>
            <a:stretch/>
          </p:blipFill>
          <p:spPr bwMode="auto">
            <a:xfrm>
              <a:off x="4242374" y="1266924"/>
              <a:ext cx="3215680" cy="127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873398" y="1505214"/>
              <a:ext cx="616085" cy="38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88" b="7541"/>
            <a:stretch/>
          </p:blipFill>
          <p:spPr bwMode="auto">
            <a:xfrm>
              <a:off x="6747364" y="1904828"/>
              <a:ext cx="4049222" cy="639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9746" b="50292"/>
            <a:stretch/>
          </p:blipFill>
          <p:spPr bwMode="auto">
            <a:xfrm>
              <a:off x="10181088" y="2094605"/>
              <a:ext cx="526195" cy="28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1005120" y="1266924"/>
              <a:ext cx="844519" cy="127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662759" y="1724108"/>
              <a:ext cx="1186880" cy="820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2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83" r="99340" b="31624"/>
          <a:stretch/>
        </p:blipFill>
        <p:spPr bwMode="auto">
          <a:xfrm>
            <a:off x="0" y="1178585"/>
            <a:ext cx="4646921" cy="2547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99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3" y="2181578"/>
            <a:ext cx="8733864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199" b="1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23" y="1266924"/>
            <a:ext cx="8733864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799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6" r="76604" b="25471"/>
          <a:stretch/>
        </p:blipFill>
        <p:spPr bwMode="auto">
          <a:xfrm>
            <a:off x="11396131" y="3113148"/>
            <a:ext cx="627530" cy="531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" name="Straight Connector 34"/>
          <p:cNvCxnSpPr/>
          <p:nvPr/>
        </p:nvCxnSpPr>
        <p:spPr bwMode="auto">
          <a:xfrm>
            <a:off x="239122" y="2006353"/>
            <a:ext cx="8872841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039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Box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9689280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2" y="836712"/>
            <a:ext cx="11326474" cy="1655762"/>
          </a:xfrm>
          <a:prstGeom prst="rect">
            <a:avLst/>
          </a:prstGeom>
        </p:spPr>
        <p:txBody>
          <a:bodyPr/>
          <a:lstStyle>
            <a:lvl1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 kumimoji="0" lang="en-US" sz="1799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  <a:lvl2pPr marL="742727" marR="0" indent="-285664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2pPr>
            <a:lvl3pPr marL="1142657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•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3pPr>
            <a:lvl4pPr marL="1599720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4pPr>
            <a:lvl5pPr marL="2056783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»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5pPr>
            <a:lvl6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6pPr>
            <a:lvl8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8pPr>
            <a:lvl9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9pPr>
          </a:lstStyle>
          <a:p>
            <a:pPr marL="342797" marR="0" lvl="0" indent="-342797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Edit Master text styles</a:t>
            </a:r>
          </a:p>
          <a:p>
            <a:pPr marL="742727" marR="0" lvl="1" indent="-285664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1142657" marR="0" lvl="2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1599720" marR="0" lvl="3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marL="2056783" marR="0" lvl="4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Fifth level</a:t>
            </a:r>
          </a:p>
          <a:p>
            <a:pPr marL="2513846" marR="0" lvl="5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six</a:t>
            </a:r>
          </a:p>
          <a:p>
            <a:pPr marL="0" marR="0" lvl="5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Level seven</a:t>
            </a:r>
          </a:p>
          <a:p>
            <a:pPr marL="0" marR="0" lvl="7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Level eight</a:t>
            </a:r>
          </a:p>
          <a:p>
            <a:pPr marL="0" marR="0" lvl="8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nine</a:t>
            </a:r>
          </a:p>
        </p:txBody>
      </p:sp>
    </p:spTree>
    <p:extLst>
      <p:ext uri="{BB962C8B-B14F-4D97-AF65-F5344CB8AC3E}">
        <p14:creationId xmlns:p14="http://schemas.microsoft.com/office/powerpoint/2010/main" val="1090936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52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2877703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061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71523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51" y="686328"/>
            <a:ext cx="10273211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9355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6688315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9830553" y="6368498"/>
            <a:ext cx="1722334" cy="4762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99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51" y="686328"/>
            <a:ext cx="10273211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761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7097505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12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/>
              <a:ea typeface="+mn-ea"/>
              <a:cs typeface="Times New Roman"/>
              <a:sym typeface="Calibri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2713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7706407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99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86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143">
          <p15:clr>
            <a:srgbClr val="FBAE40"/>
          </p15:clr>
        </p15:guide>
        <p15:guide id="5" pos="753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4"/>
          <p:cNvSpPr/>
          <p:nvPr/>
        </p:nvSpPr>
        <p:spPr bwMode="ltGray">
          <a:xfrm>
            <a:off x="1524" y="1310"/>
            <a:ext cx="4087247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tx2"/>
              </a:gs>
              <a:gs pos="99000">
                <a:srgbClr val="AF4946"/>
              </a:gs>
              <a:gs pos="7900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9836" y="2764204"/>
            <a:ext cx="2477993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FooterSimple" hidden="1"/>
          <p:cNvSpPr txBox="1"/>
          <p:nvPr>
            <p:custDataLst>
              <p:tags r:id="rId1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Trebuchet MS" panose="020B0603020202020204" pitchFamily="34" charset="0"/>
              </a:rPr>
              <a:t>180211 RAKBANK Strategy 2018-2020_ExCo presentation_vF BSC.pptx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661582" y="6400800"/>
            <a:ext cx="527244" cy="457200"/>
          </a:xfrm>
        </p:spPr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54229" y="203199"/>
            <a:ext cx="7404711" cy="5943600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04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D. Two-Thirds">
    <p:bg>
      <p:bgPr>
        <a:gradFill>
          <a:gsLst>
            <a:gs pos="100000">
              <a:srgbClr val="C00000"/>
            </a:gs>
            <a:gs pos="8100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 bwMode="ltGray">
          <a:xfrm>
            <a:off x="4079701" y="-1309"/>
            <a:ext cx="8109125" cy="68593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11" name="FooterSimple" hidden="1"/>
          <p:cNvSpPr txBox="1"/>
          <p:nvPr>
            <p:custDataLst>
              <p:tags r:id="rId2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Trebuchet MS" panose="020B0603020202020204" pitchFamily="34" charset="0"/>
              </a:rPr>
              <a:t>180211 RAKBANK Strategy 2018-2020_ExCo presentation_vF BSC.pptx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661582" y="6400800"/>
            <a:ext cx="527244" cy="457200"/>
          </a:xfrm>
        </p:spPr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4"/>
          <p:cNvSpPr>
            <a:spLocks noGrp="1"/>
          </p:cNvSpPr>
          <p:nvPr>
            <p:ph type="title" hasCustomPrompt="1"/>
          </p:nvPr>
        </p:nvSpPr>
        <p:spPr>
          <a:xfrm>
            <a:off x="629836" y="2764204"/>
            <a:ext cx="2477993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54229" y="203199"/>
            <a:ext cx="7404711" cy="5943600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772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D351B6-2978-44B5-B76F-26AD3EF61F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80" y="736061"/>
            <a:ext cx="11443584" cy="4074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90773EA-999E-2D46-9CD7-8BC979FC0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3971" y="6283326"/>
            <a:ext cx="28440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84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oleObject" Target="../embeddings/oleObject12.bin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>
            <p:custDataLst>
              <p:tags r:id="rId14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60" imgH="360" progId="TCLayout.ActiveDocument.1">
                  <p:embed/>
                </p:oleObj>
              </mc:Choice>
              <mc:Fallback>
                <p:oleObj name="think-cell Slide" r:id="rId15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61582" y="6400800"/>
            <a:ext cx="5272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2"/>
                </a:solidFill>
                <a:latin typeface="Calibri" panose="020F0502020204030204" pitchFamily="34" charset="0"/>
                <a:cs typeface="+mn-cs"/>
              </a:defRPr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0"/>
            <a:ext cx="12188825" cy="692150"/>
            <a:chOff x="0" y="0"/>
            <a:chExt cx="9144000" cy="69215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0"/>
              <a:ext cx="9144000" cy="692150"/>
              <a:chOff x="0" y="0"/>
              <a:chExt cx="9144000" cy="692150"/>
            </a:xfrm>
          </p:grpSpPr>
          <p:pic>
            <p:nvPicPr>
              <p:cNvPr id="17" name="Picture 3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4400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7157"/>
              <a:stretch/>
            </p:blipFill>
            <p:spPr bwMode="auto">
              <a:xfrm>
                <a:off x="0" y="0"/>
                <a:ext cx="241176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9746"/>
              <a:stretch/>
            </p:blipFill>
            <p:spPr bwMode="auto">
              <a:xfrm>
                <a:off x="8928847" y="0"/>
                <a:ext cx="215153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8676456" y="153334"/>
                <a:ext cx="462064" cy="3854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116" r="76604" b="25471"/>
            <a:stretch/>
          </p:blipFill>
          <p:spPr bwMode="auto">
            <a:xfrm>
              <a:off x="8703539" y="116635"/>
              <a:ext cx="396000" cy="447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2C1072D-9701-FEFC-F3C5-73816AF942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6736080"/>
            <a:ext cx="12950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RAKBANK-Public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C4315-E758-194B-DF9A-94B835D643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" y="6736080"/>
            <a:ext cx="1369656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RAKBANK-Internal</a:t>
            </a:r>
          </a:p>
        </p:txBody>
      </p:sp>
    </p:spTree>
    <p:extLst>
      <p:ext uri="{BB962C8B-B14F-4D97-AF65-F5344CB8AC3E}">
        <p14:creationId xmlns:p14="http://schemas.microsoft.com/office/powerpoint/2010/main" val="200409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600" b="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5pPr>
      <a:lvl6pPr marL="457063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6pPr>
      <a:lvl7pPr marL="914126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7pPr>
      <a:lvl8pPr marL="1371189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8pPr>
      <a:lvl9pPr marL="1828251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9pPr>
    </p:titleStyle>
    <p:bodyStyle>
      <a:lvl1pPr marL="342797" indent="-342797" algn="l" rtl="0" eaLnBrk="1" fontAlgn="base" hangingPunct="1">
        <a:spcBef>
          <a:spcPct val="20000"/>
        </a:spcBef>
        <a:spcAft>
          <a:spcPct val="0"/>
        </a:spcAft>
        <a:buChar char="•"/>
        <a:defRPr sz="1799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727" indent="-285664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Calibri" panose="020F0502020204030204" pitchFamily="34" charset="0"/>
          <a:cs typeface="+mn-cs"/>
        </a:defRPr>
      </a:lvl2pPr>
      <a:lvl3pPr marL="1142657" indent="-228531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3pPr>
      <a:lvl4pPr marL="1599720" indent="-228531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4pPr>
      <a:lvl5pPr marL="2056783" indent="-228531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5pPr>
      <a:lvl6pPr marL="2513846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970908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427971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885034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91227660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60" imgH="360" progId="TCLayout.ActiveDocument.1">
                  <p:embed/>
                </p:oleObj>
              </mc:Choice>
              <mc:Fallback>
                <p:oleObj name="think-cell Slide" r:id="rId15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61582" y="6400800"/>
            <a:ext cx="5272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2"/>
                </a:solidFill>
                <a:latin typeface="Calibri" panose="020F0502020204030204" pitchFamily="34" charset="0"/>
                <a:cs typeface="+mn-cs"/>
              </a:defRPr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0"/>
            <a:ext cx="12188825" cy="692150"/>
            <a:chOff x="0" y="0"/>
            <a:chExt cx="9144000" cy="69215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0"/>
              <a:ext cx="9144000" cy="692150"/>
              <a:chOff x="0" y="0"/>
              <a:chExt cx="9144000" cy="692150"/>
            </a:xfrm>
          </p:grpSpPr>
          <p:pic>
            <p:nvPicPr>
              <p:cNvPr id="17" name="Picture 3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4400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7157"/>
              <a:stretch/>
            </p:blipFill>
            <p:spPr bwMode="auto">
              <a:xfrm>
                <a:off x="0" y="0"/>
                <a:ext cx="241176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9746"/>
              <a:stretch/>
            </p:blipFill>
            <p:spPr bwMode="auto">
              <a:xfrm>
                <a:off x="8928847" y="0"/>
                <a:ext cx="215153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8676456" y="153334"/>
                <a:ext cx="462064" cy="3854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116" r="76604" b="25471"/>
            <a:stretch/>
          </p:blipFill>
          <p:spPr bwMode="auto">
            <a:xfrm>
              <a:off x="8703539" y="116635"/>
              <a:ext cx="396000" cy="447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B121E8E-13B7-7A8E-2FBA-30FB2D99CE8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484" y="6672580"/>
            <a:ext cx="1369656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8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RAKBANK-Internal</a:t>
            </a:r>
          </a:p>
        </p:txBody>
      </p:sp>
    </p:spTree>
    <p:extLst>
      <p:ext uri="{BB962C8B-B14F-4D97-AF65-F5344CB8AC3E}">
        <p14:creationId xmlns:p14="http://schemas.microsoft.com/office/powerpoint/2010/main" val="4261512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600" b="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5pPr>
      <a:lvl6pPr marL="457063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6pPr>
      <a:lvl7pPr marL="914126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7pPr>
      <a:lvl8pPr marL="1371189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8pPr>
      <a:lvl9pPr marL="1828251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9pPr>
    </p:titleStyle>
    <p:bodyStyle>
      <a:lvl1pPr marL="342797" indent="-342797" algn="l" rtl="0" eaLnBrk="1" fontAlgn="base" hangingPunct="1">
        <a:spcBef>
          <a:spcPct val="20000"/>
        </a:spcBef>
        <a:spcAft>
          <a:spcPct val="0"/>
        </a:spcAft>
        <a:buChar char="•"/>
        <a:defRPr sz="1799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727" indent="-285664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Calibri" panose="020F0502020204030204" pitchFamily="34" charset="0"/>
          <a:cs typeface="+mn-cs"/>
        </a:defRPr>
      </a:lvl2pPr>
      <a:lvl3pPr marL="1142657" indent="-228531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3pPr>
      <a:lvl4pPr marL="1599720" indent="-228531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4pPr>
      <a:lvl5pPr marL="2056783" indent="-228531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5pPr>
      <a:lvl6pPr marL="2513846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970908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427971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885034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Data Platform</a:t>
            </a:r>
          </a:p>
          <a:p>
            <a:pPr>
              <a:defRPr sz="3600" b="1"/>
            </a:pPr>
            <a:r>
              <a:t>Capability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Executive Summary –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1. Assessment Overview &amp; Methodology</a:t>
            </a:r>
          </a:p>
          <a:p>
            <a:pPr>
              <a:spcAft>
                <a:spcPts val="800"/>
              </a:spcAft>
              <a:defRPr sz="1800"/>
            </a:pPr>
            <a:r>
              <a:t>2. Overall Maturity Score</a:t>
            </a:r>
          </a:p>
          <a:p>
            <a:pPr>
              <a:spcAft>
                <a:spcPts val="800"/>
              </a:spcAft>
              <a:defRPr sz="1800"/>
            </a:pPr>
            <a:r>
              <a:t>3. Domain Heat Map</a:t>
            </a:r>
          </a:p>
          <a:p>
            <a:pPr>
              <a:spcAft>
                <a:spcPts val="800"/>
              </a:spcAft>
              <a:defRPr sz="1800"/>
            </a:pPr>
            <a:r>
              <a:t>4. Key Findings &amp; Critical Gaps</a:t>
            </a:r>
          </a:p>
          <a:p>
            <a:pPr>
              <a:spcAft>
                <a:spcPts val="800"/>
              </a:spcAft>
              <a:defRPr sz="1800"/>
            </a:pPr>
            <a:r>
              <a:t>5. Domain Deep Dive Summaries</a:t>
            </a:r>
          </a:p>
          <a:p>
            <a:pPr>
              <a:spcAft>
                <a:spcPts val="800"/>
              </a:spcAft>
              <a:defRPr sz="1800"/>
            </a:pPr>
            <a:r>
              <a:t>6. Recommended Priorities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Overview &amp; 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9122" y="836712"/>
            <a:ext cx="11326474" cy="4466808"/>
          </a:xfrm>
        </p:spPr>
        <p:txBody>
          <a:bodyPr/>
          <a:lstStyle/>
          <a:p>
            <a:pPr>
              <a:defRPr sz="1400" b="1"/>
            </a:pPr>
            <a:r>
              <a:rPr dirty="0"/>
              <a:t>Purpose: Evaluate the maturity of the data platform across 8 capability domains and 36 sub-areas.</a:t>
            </a:r>
          </a:p>
          <a:p>
            <a:pPr>
              <a:defRPr sz="1300"/>
            </a:pPr>
            <a:endParaRPr dirty="0"/>
          </a:p>
          <a:p>
            <a:pPr>
              <a:defRPr sz="1400" b="1"/>
            </a:pPr>
            <a:r>
              <a:rPr dirty="0"/>
              <a:t>Scoring Model: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/>
            </a:pPr>
            <a:r>
              <a:rPr dirty="0"/>
              <a:t>Each sub-area scored across 4 dimensions: Process, Tooling, People, Automation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/>
            </a:pPr>
            <a:r>
              <a:rPr dirty="0"/>
              <a:t>Scores range from 1 (Initial / Ad-hoc) to 5 (Optimizing / Continuous Improvement)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/>
            </a:pPr>
            <a:r>
              <a:rPr dirty="0"/>
              <a:t>Domain score = average of sub-area scores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/>
            </a:pPr>
            <a:r>
              <a:rPr dirty="0"/>
              <a:t>Overall score = average of domain scores</a:t>
            </a:r>
          </a:p>
          <a:p>
            <a:pPr>
              <a:defRPr sz="1300"/>
            </a:pPr>
            <a:endParaRPr dirty="0"/>
          </a:p>
          <a:p>
            <a:pPr>
              <a:defRPr sz="1400" b="1"/>
            </a:pPr>
            <a:r>
              <a:rPr dirty="0"/>
              <a:t>Domains Assessed:</a:t>
            </a:r>
          </a:p>
          <a:p>
            <a:pPr>
              <a:defRPr sz="1300"/>
            </a:pPr>
            <a:r>
              <a:rPr dirty="0"/>
              <a:t>  Data Integration  •  Data Management  •  Data Quality Management  •  Analytics</a:t>
            </a:r>
          </a:p>
          <a:p>
            <a:pPr>
              <a:defRPr sz="1300"/>
            </a:pPr>
            <a:r>
              <a:rPr dirty="0"/>
              <a:t>  Metadata Management  •  Security &amp; Compliance  •  Data Governance  •  Supporting Technology</a:t>
            </a:r>
          </a:p>
          <a:p>
            <a:pPr>
              <a:defRPr sz="1300"/>
            </a:pPr>
            <a:endParaRPr dirty="0"/>
          </a:p>
          <a:p>
            <a:pPr>
              <a:defRPr sz="1400" b="1"/>
            </a:pPr>
            <a:r>
              <a:rPr dirty="0"/>
              <a:t>Current Technology Stack:</a:t>
            </a:r>
          </a:p>
          <a:p>
            <a:pPr>
              <a:defRPr sz="1300"/>
            </a:pPr>
            <a:r>
              <a:rPr dirty="0"/>
              <a:t>  Confluent Cloud (Kafka/CDC)  •  Azure Data Factory  •  Databricks  •  Delta Lake  •  Power BI</a:t>
            </a:r>
          </a:p>
          <a:p>
            <a:pPr>
              <a:defRPr sz="1300"/>
            </a:pPr>
            <a:r>
              <a:rPr dirty="0"/>
              <a:t>  Informatica (limited)  •  Erwin  •  GitHub Actions  •  Terraform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Platform Maturity Score</a:t>
            </a:r>
          </a:p>
        </p:txBody>
      </p:sp>
      <p:sp>
        <p:nvSpPr>
          <p:cNvPr id="3" name="Oval 2"/>
          <p:cNvSpPr/>
          <p:nvPr/>
        </p:nvSpPr>
        <p:spPr>
          <a:xfrm>
            <a:off x="4277158" y="1153128"/>
            <a:ext cx="2194560" cy="2194560"/>
          </a:xfrm>
          <a:prstGeom prst="ellipse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1.</a:t>
            </a:r>
            <a:r>
              <a:rPr lang="en-US" dirty="0"/>
              <a:t>4</a:t>
            </a:r>
            <a:endParaRPr dirty="0"/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/>
              <a:t>out of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7863" y="3710577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Data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0983" y="3735977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20983" y="3735977"/>
            <a:ext cx="1709928" cy="2540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3063" y="3710577"/>
            <a:ext cx="731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1.7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863" y="4040777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Data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0983" y="4066177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20983" y="4066177"/>
            <a:ext cx="1408176" cy="25400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3063" y="4040777"/>
            <a:ext cx="731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1.4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863" y="4370977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Data Quality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983" y="4396377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20983" y="4396377"/>
            <a:ext cx="1005840" cy="2540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3063" y="4370977"/>
            <a:ext cx="731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863" y="4701177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0983" y="4726577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420983" y="4726577"/>
            <a:ext cx="1408176" cy="25400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3063" y="4701177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rPr dirty="0"/>
              <a:t>1.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317863" y="5031377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Metadata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0983" y="5056777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420983" y="5056777"/>
            <a:ext cx="1709928" cy="2540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33063" y="5031377"/>
            <a:ext cx="731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1.7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863" y="5361577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Security &amp; Compliance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0983" y="5386977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420982" y="5386977"/>
            <a:ext cx="1408175" cy="25400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33063" y="5361577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rPr dirty="0"/>
              <a:t>1.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317863" y="5691777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Data Governance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0983" y="5717177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420983" y="5717177"/>
            <a:ext cx="1408176" cy="25400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33063" y="5691777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rPr dirty="0"/>
              <a:t>1.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317863" y="6021977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Supporting Technology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20983" y="6047377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420983" y="6047377"/>
            <a:ext cx="1408176" cy="25400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3063" y="6021977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rPr dirty="0"/>
              <a:t>1.</a:t>
            </a:r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Capability Heat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2011680" cy="4064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Integration (1.7)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5120" y="173736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Event-Driven Integration: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5120" y="197866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Batch-Driven Integration: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5120" y="22199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API-Driven Integration: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5120" y="24612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Virtualization: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120" y="270256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Orchestration: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120" y="294386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Automation: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280160"/>
            <a:ext cx="2011680" cy="406400"/>
          </a:xfrm>
          <a:prstGeom prst="round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Management (1.4)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9680" y="173736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Processing: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9680" y="1978660"/>
            <a:ext cx="1910080" cy="203200"/>
          </a:xfrm>
          <a:prstGeom prst="roundRect">
            <a:avLst/>
          </a:prstGeom>
          <a:solidFill>
            <a:srgbClr val="FBC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212121"/>
                </a:solidFill>
              </a:defRPr>
            </a:pPr>
            <a:r>
              <a:t>Data Storage Management: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9680" y="22199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Modeling: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9680" y="24612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DataOps: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9680" y="27025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ML/AI Model Mgmt: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9680" y="29438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Self-Service Data Prep: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9680" y="31851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Product Mgmt: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80160"/>
            <a:ext cx="2011680" cy="4064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Quality Management (1.0)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14240" y="17373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Profiling: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14240" y="19786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DQ Rules Management: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14240" y="22199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DQ Monitoring: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14240" y="24612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Observability: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280160"/>
            <a:ext cx="2011680" cy="406400"/>
          </a:xfrm>
          <a:prstGeom prst="round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Analytics (1.</a:t>
            </a:r>
            <a:r>
              <a:rPr lang="en-US" sz="900" b="1" dirty="0">
                <a:solidFill>
                  <a:srgbClr val="FFFFFF"/>
                </a:solidFill>
              </a:rPr>
              <a:t>4</a:t>
            </a:r>
            <a:r>
              <a:rPr sz="900" b="1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8800" y="17373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Marketplace: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8800" y="197866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dirty="0">
                <a:solidFill>
                  <a:srgbClr val="FFFFFF"/>
                </a:solidFill>
              </a:rPr>
              <a:t>Data Visualization: </a:t>
            </a:r>
            <a:r>
              <a:rPr lang="en-US" sz="700" dirty="0">
                <a:solidFill>
                  <a:srgbClr val="FFFFFF"/>
                </a:solidFill>
              </a:rPr>
              <a:t>2</a:t>
            </a:r>
            <a:endParaRPr sz="700" dirty="0">
              <a:solidFill>
                <a:srgbClr val="FFFFFF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908800" y="22199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rPr dirty="0"/>
              <a:t>Exploratory Data Anal</a:t>
            </a:r>
            <a:r>
              <a:rPr lang="en-US" dirty="0"/>
              <a:t>ysis</a:t>
            </a:r>
            <a:r>
              <a:rPr dirty="0"/>
              <a:t>: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8800" y="24612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Self-Service Analytics: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977640"/>
            <a:ext cx="2011680" cy="4064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Metadata Management (1.7)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5120" y="443484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rPr dirty="0"/>
              <a:t>Data Catalog: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5120" y="467614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Discovery: 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5120" y="49174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rPr dirty="0"/>
              <a:t>Lineage &amp; Impact Anal</a:t>
            </a:r>
            <a:r>
              <a:rPr lang="en-US" dirty="0"/>
              <a:t>ysis</a:t>
            </a:r>
            <a:r>
              <a:rPr dirty="0"/>
              <a:t>: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3977640"/>
            <a:ext cx="2011680" cy="406400"/>
          </a:xfrm>
          <a:prstGeom prst="round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Security &amp; Compliance (1.</a:t>
            </a:r>
            <a:r>
              <a:rPr lang="en-US" sz="900" b="1" dirty="0">
                <a:solidFill>
                  <a:srgbClr val="FFFFFF"/>
                </a:solidFill>
              </a:rPr>
              <a:t>4</a:t>
            </a:r>
            <a:r>
              <a:rPr sz="900" b="1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9680" y="44348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Privacy Mgmt: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9680" y="467614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dirty="0">
                <a:solidFill>
                  <a:srgbClr val="FFFFFF"/>
                </a:solidFill>
              </a:rPr>
              <a:t>Data Protection: </a:t>
            </a:r>
            <a:r>
              <a:rPr lang="en-US" sz="700" dirty="0">
                <a:solidFill>
                  <a:srgbClr val="FFFFFF"/>
                </a:solidFill>
              </a:rPr>
              <a:t>2</a:t>
            </a:r>
            <a:endParaRPr sz="700" dirty="0">
              <a:solidFill>
                <a:srgbClr val="FFFFFF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519680" y="49174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Access Governance: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19680" y="51587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Audit Management: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3977640"/>
            <a:ext cx="2011680" cy="406400"/>
          </a:xfrm>
          <a:prstGeom prst="round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Data Governance (1.</a:t>
            </a:r>
            <a:r>
              <a:rPr lang="en-US" sz="900" b="1" dirty="0">
                <a:solidFill>
                  <a:srgbClr val="FFFFFF"/>
                </a:solidFill>
              </a:rPr>
              <a:t>4</a:t>
            </a:r>
            <a:r>
              <a:rPr sz="900" b="1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14240" y="44348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Strategy Mgmt: 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14240" y="46761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Standards Mgmt: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14240" y="491744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dirty="0">
                <a:solidFill>
                  <a:srgbClr val="FFFFFF"/>
                </a:solidFill>
              </a:rPr>
              <a:t>Data Stewardship: </a:t>
            </a:r>
            <a:r>
              <a:rPr lang="en-US" sz="700" dirty="0">
                <a:solidFill>
                  <a:srgbClr val="FFFFFF"/>
                </a:solidFill>
              </a:rPr>
              <a:t>2</a:t>
            </a:r>
            <a:endParaRPr sz="700" dirty="0">
              <a:solidFill>
                <a:srgbClr val="FFFFFF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858000" y="3977640"/>
            <a:ext cx="2011680" cy="406400"/>
          </a:xfrm>
          <a:prstGeom prst="round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Supporting Technology (1.</a:t>
            </a:r>
            <a:r>
              <a:rPr lang="en-US" sz="900" b="1" dirty="0">
                <a:solidFill>
                  <a:srgbClr val="FFFFFF"/>
                </a:solidFill>
              </a:rPr>
              <a:t>4</a:t>
            </a:r>
            <a:r>
              <a:rPr sz="900" b="1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8800" y="44348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Platform Monitoring: 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08800" y="467614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dirty="0">
                <a:solidFill>
                  <a:srgbClr val="FFFFFF"/>
                </a:solidFill>
              </a:rPr>
              <a:t>Automation &amp; CI/CD: </a:t>
            </a:r>
            <a:r>
              <a:rPr lang="en-US" sz="700" dirty="0">
                <a:solidFill>
                  <a:srgbClr val="FFFFFF"/>
                </a:solidFill>
              </a:rPr>
              <a:t>2</a:t>
            </a:r>
            <a:endParaRPr sz="700" dirty="0">
              <a:solidFill>
                <a:srgbClr val="FFFFFF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908800" y="49174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Development Practices: 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5120" y="6065520"/>
            <a:ext cx="1371600" cy="2286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1 – Initial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79600" y="6065520"/>
            <a:ext cx="1371600" cy="2286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2 – Developing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34080" y="6065520"/>
            <a:ext cx="1371600" cy="228600"/>
          </a:xfrm>
          <a:prstGeom prst="roundRect">
            <a:avLst/>
          </a:prstGeom>
          <a:solidFill>
            <a:srgbClr val="FBC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12121"/>
                </a:solidFill>
              </a:defRPr>
            </a:pPr>
            <a:r>
              <a:t>3 – Defined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8560" y="6065520"/>
            <a:ext cx="1371600" cy="228600"/>
          </a:xfrm>
          <a:prstGeom prst="round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12121"/>
                </a:solidFill>
              </a:defRPr>
            </a:pPr>
            <a:r>
              <a:t>4 – Managed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43040" y="6065520"/>
            <a:ext cx="1371600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12121"/>
                </a:solidFill>
              </a:defRPr>
            </a:pPr>
            <a:r>
              <a:t>5 – Optimizing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Critical Gaps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9122" y="836712"/>
            <a:ext cx="11326474" cy="2592288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A237E"/>
                </a:solidFill>
              </a:rPr>
              <a:t>1. Data Modeling: </a:t>
            </a:r>
            <a:r>
              <a:rPr sz="1300" dirty="0"/>
              <a:t>Methodology not aligned with medallion architecture; gaps </a:t>
            </a:r>
            <a:r>
              <a:rPr sz="1300"/>
              <a:t>in models </a:t>
            </a:r>
            <a:r>
              <a:rPr sz="1300" dirty="0"/>
              <a:t>of all layers, no standards, automation, or collaboration tooling.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A237E"/>
                </a:solidFill>
              </a:rPr>
              <a:t>2. Platform Monitoring &amp; Data Quality: </a:t>
            </a:r>
            <a:r>
              <a:rPr sz="1300" dirty="0"/>
              <a:t>No monitoring, DQ framework, reconciliations, or automated data integrations.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A237E"/>
                </a:solidFill>
              </a:rPr>
              <a:t>3. Data Governance &amp; Integration: </a:t>
            </a:r>
            <a:r>
              <a:rPr sz="1300" dirty="0"/>
              <a:t>No unified standards or integration between governance, modelling, and Databricks.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A237E"/>
                </a:solidFill>
              </a:rPr>
              <a:t>4. Security &amp; Compliance: </a:t>
            </a:r>
            <a:r>
              <a:rPr sz="1300" dirty="0"/>
              <a:t>Privacy, masking, access governance, and audit management are largely absent or ad-hoc.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A237E"/>
                </a:solidFill>
              </a:rPr>
              <a:t>5. Analytics &amp; Self-Service: </a:t>
            </a:r>
            <a:r>
              <a:rPr lang="en-US" sz="1300" dirty="0"/>
              <a:t>R</a:t>
            </a:r>
            <a:r>
              <a:rPr sz="1300" dirty="0"/>
              <a:t>eporting is IT-driven; no self-service, marketplace.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A237E"/>
                </a:solidFill>
              </a:rPr>
              <a:t>6. </a:t>
            </a:r>
            <a:r>
              <a:rPr sz="1400" b="1" dirty="0" err="1">
                <a:solidFill>
                  <a:srgbClr val="1A237E"/>
                </a:solidFill>
              </a:rPr>
              <a:t>DataOps</a:t>
            </a:r>
            <a:r>
              <a:rPr sz="1400" b="1" dirty="0">
                <a:solidFill>
                  <a:srgbClr val="1A237E"/>
                </a:solidFill>
              </a:rPr>
              <a:t> &amp; CI/CD: </a:t>
            </a:r>
            <a:r>
              <a:rPr sz="1300" dirty="0"/>
              <a:t>No automated testing, CI/CD for data pipelines, or incident response process.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dirty="0"/>
              <a:t>Data Integration (Score: 1.7)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9122" y="836712"/>
            <a:ext cx="11326474" cy="3247608"/>
          </a:xfrm>
        </p:spPr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rPr dirty="0"/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rPr dirty="0"/>
              <a:t>Confluent Cloud (Kafka/CDC) for event-driven integration with 20+ source systems. ADF + Databricks for batch pipelines 10+ source systems. GitHub Actions for basic </a:t>
            </a:r>
            <a:r>
              <a:rPr dirty="0" err="1"/>
              <a:t>IaC</a:t>
            </a:r>
            <a:r>
              <a:rPr dirty="0"/>
              <a:t> provisioning.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rPr dirty="0"/>
              <a:t>Key Gaps</a:t>
            </a:r>
          </a:p>
          <a:p>
            <a:pPr>
              <a:spcAft>
                <a:spcPts val="400"/>
              </a:spcAft>
              <a:defRPr sz="1200"/>
            </a:pPr>
            <a:r>
              <a:rPr dirty="0"/>
              <a:t>• No comprehensive monitoring, alerting, or SLA tracking</a:t>
            </a:r>
          </a:p>
          <a:p>
            <a:pPr>
              <a:spcAft>
                <a:spcPts val="400"/>
              </a:spcAft>
              <a:defRPr sz="1200"/>
            </a:pPr>
            <a:r>
              <a:rPr dirty="0"/>
              <a:t>• Pipeline dependency management and decommissioning processes absent</a:t>
            </a:r>
          </a:p>
          <a:p>
            <a:pPr>
              <a:spcAft>
                <a:spcPts val="400"/>
              </a:spcAft>
              <a:defRPr sz="1200"/>
            </a:pPr>
            <a:r>
              <a:rPr dirty="0"/>
              <a:t>• No self-service integration automation for new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dirty="0"/>
              <a:t>Data Management (Score: 1.4)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9122" y="836712"/>
            <a:ext cx="11326474" cy="3639494"/>
          </a:xfrm>
        </p:spPr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rPr dirty="0"/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rPr dirty="0"/>
              <a:t>Databricks with medallion architecture (Bronze/Silver/Gold). ADLS + Delta Lake for storage. Erwin for data modeling (SharePoint-based versioning). Databricks </a:t>
            </a:r>
            <a:r>
              <a:rPr dirty="0" err="1"/>
              <a:t>MLflow</a:t>
            </a:r>
            <a:r>
              <a:rPr dirty="0"/>
              <a:t> available but unused.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rPr dirty="0"/>
              <a:t>Key Gaps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Data modeling methodology not aligned with medallion architecture</a:t>
            </a:r>
          </a:p>
          <a:p>
            <a:pPr marL="914177" lvl="1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dirty="0"/>
              <a:t>Silver layer modeling behaves like Gold (</a:t>
            </a:r>
            <a:r>
              <a:rPr lang="en-US" b="1" dirty="0"/>
              <a:t>Far too wide and BI‑specific</a:t>
            </a:r>
            <a:r>
              <a:rPr lang="en-US" dirty="0"/>
              <a:t>)</a:t>
            </a:r>
          </a:p>
          <a:p>
            <a:pPr marL="914177" lvl="1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dirty="0"/>
              <a:t>Gold layer modeling should be polyglot instead of strict star schemas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dirty="0"/>
              <a:t>Data model has gaps on foundational concepts (No canonical party, product, event concept; system-specific entities exists)</a:t>
            </a:r>
            <a:endParaRPr dirty="0"/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dirty="0"/>
              <a:t>Data model </a:t>
            </a:r>
            <a:r>
              <a:rPr dirty="0"/>
              <a:t>versioning in SharePoint causes drift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</a:t>
            </a:r>
            <a:r>
              <a:rPr dirty="0" err="1"/>
              <a:t>DataOps</a:t>
            </a:r>
            <a:r>
              <a:rPr dirty="0"/>
              <a:t> processes: no CI/CD for pipelines, no automated testing, no incident response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ML/AI model management is not standardized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Data product concept not adopted: no clear ownership, contracts, or lifecycle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dirty="0"/>
              <a:t>Data Quality Management (Score: 1.0)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9122" y="836711"/>
            <a:ext cx="11326474" cy="2803471"/>
          </a:xfrm>
        </p:spPr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rPr dirty="0"/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rPr dirty="0"/>
              <a:t>Only basic null checks on bronze tables. Informatica DQ exists for some source systems but does not cover the data platform.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rPr dirty="0"/>
              <a:t>Key Gaps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DQ framework, profiling, or rules engine for the data platform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DQ monitoring, dashboards, or scorecards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data observability – freshness, volume, schema, distribution not tracked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quarantine, blocking, or data quality SLAs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incident detection, root cause analysis, or remediation workflows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dirty="0"/>
              <a:t>Analytics (Score: 1.</a:t>
            </a:r>
            <a:r>
              <a:rPr lang="en-US" dirty="0"/>
              <a:t>4</a:t>
            </a:r>
            <a:r>
              <a:rPr dirty="0"/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9122" y="836711"/>
            <a:ext cx="11326474" cy="2472545"/>
          </a:xfrm>
        </p:spPr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rPr dirty="0"/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rPr dirty="0"/>
              <a:t>Power BI used for ad-hoc reporting. Sandbox environment for EDA exists but is unused.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rPr dirty="0"/>
              <a:t>Key Gaps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data marketplace or catalog for business consumers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Basic semantic layer, metric definitions, no reporting standards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Sandbox unused, no users onboarded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dashboard governance, usage tracking, or lifecycle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dirty="0"/>
              <a:t>Metadata Management (Score: 1.7)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9122" y="836712"/>
            <a:ext cx="11326474" cy="2733802"/>
          </a:xfrm>
        </p:spPr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rPr dirty="0"/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rPr dirty="0"/>
              <a:t>Unity Catalog (internal, Databricks). Informatica DG &amp; Catalog (enterprise, source systems only). Not integrated.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rPr dirty="0"/>
              <a:t>Key Gaps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integrated catalog covering the data platform end-to-end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Discovery limited to source systems; data platform assets not discoverable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end-to-end lineage – only partial in Unity Catalog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cross-system lineage (source → Kafka → Databricks → BI)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business lineage for regulatory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dirty="0"/>
              <a:t>Security &amp; Compliance (Score: 1.</a:t>
            </a:r>
            <a:r>
              <a:rPr lang="en-US" dirty="0"/>
              <a:t>4</a:t>
            </a:r>
            <a:r>
              <a:rPr dirty="0"/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9122" y="836712"/>
            <a:ext cx="11326474" cy="2359334"/>
          </a:xfrm>
        </p:spPr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rPr dirty="0"/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rPr dirty="0"/>
              <a:t>Encryption at rest (TDE) and in transit (TLS). Partial PII classification in Informatica for some source systems. Basic RBAC exists.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rPr dirty="0"/>
              <a:t>Key Gaps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data privacy framework, retention policies, or consent management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data masking, tokenization, DLP, or backup/DR procedures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Access governance is basic: no periodic reviews, no fine-grained controls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Audit management </a:t>
            </a:r>
            <a:r>
              <a:rPr lang="en-US" dirty="0"/>
              <a:t>absent,</a:t>
            </a:r>
            <a:r>
              <a:rPr dirty="0"/>
              <a:t> no central logging, SIEM, or chain-of-custody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data breach response plan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</a:t>
            </a:r>
            <a:r>
              <a:rPr dirty="0"/>
              <a:t>Data Governance (Score: 1.</a:t>
            </a:r>
            <a:r>
              <a:rPr lang="en-US" dirty="0"/>
              <a:t>4</a:t>
            </a:r>
            <a:r>
              <a:rPr dirty="0"/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9122" y="836712"/>
            <a:ext cx="11326474" cy="2592288"/>
          </a:xfrm>
        </p:spPr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rPr dirty="0"/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rPr dirty="0"/>
              <a:t>Basic business glossary exists but is not comprehensive. No formal governance body or strategy.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rPr dirty="0"/>
              <a:t>Key Gaps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data strategy, operating model, or executive governance body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CDEs, naming conventions, classification standards, or enforcement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Basic data stewards, stewardship process, stewardship tooling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master data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</a:t>
            </a:r>
            <a:r>
              <a:rPr dirty="0"/>
              <a:t>Supporting Technology (Score: 1.</a:t>
            </a:r>
            <a:r>
              <a:rPr lang="en-US" dirty="0"/>
              <a:t>4</a:t>
            </a:r>
            <a:r>
              <a:rPr dirty="0"/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9122" y="836712"/>
            <a:ext cx="11326474" cy="2592288"/>
          </a:xfrm>
        </p:spPr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rPr dirty="0"/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rPr dirty="0"/>
              <a:t>Git for source control. Basic Terraform for </a:t>
            </a:r>
            <a:r>
              <a:rPr dirty="0" err="1"/>
              <a:t>IaC</a:t>
            </a:r>
            <a:r>
              <a:rPr dirty="0"/>
              <a:t>. Shared libraries exist at basic level.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rPr dirty="0"/>
              <a:t>Key Gaps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centralized platform monitoring, basic alerting, no operational dashboard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Basic CI/CD for data pipelines, manual deployments dominate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coding standards, code review process, or linters enforced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on-call schedules, incident response runbooks, or capacity planning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pPr>
            <a:r>
              <a:rPr dirty="0"/>
              <a:t>No documentation of framework or onboarding process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Priorities &amp;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9122" y="836712"/>
            <a:ext cx="11326474" cy="3430488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1200" b="1" dirty="0">
                <a:solidFill>
                  <a:srgbClr val="1A237E"/>
                </a:solidFill>
              </a:rPr>
              <a:t>1 – Foundation: </a:t>
            </a:r>
            <a:r>
              <a:rPr sz="1100" dirty="0"/>
              <a:t>Establish data strategy, lifecycle, and operating model. Define data standards, patterns, technology mappings.</a:t>
            </a:r>
          </a:p>
          <a:p>
            <a:pPr>
              <a:spcAft>
                <a:spcPts val="800"/>
              </a:spcAft>
            </a:pPr>
            <a:r>
              <a:rPr lang="en-US" sz="1200" b="1" dirty="0">
                <a:solidFill>
                  <a:srgbClr val="1A237E"/>
                </a:solidFill>
              </a:rPr>
              <a:t>2 – Data Modeling Reform: </a:t>
            </a:r>
            <a:r>
              <a:rPr lang="en-US" sz="1100" dirty="0"/>
              <a:t>Redesign modeling approach for medallion architecture, define base LDM; adopt collaborative versioning and automation.</a:t>
            </a:r>
            <a:endParaRPr sz="1100" dirty="0"/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1A237E"/>
                </a:solidFill>
              </a:rPr>
              <a:t>3 – Quality &amp; Observability: </a:t>
            </a:r>
            <a:r>
              <a:rPr sz="1100" dirty="0"/>
              <a:t>Implement DQ framework (profiling, rules,, reconcil</a:t>
            </a:r>
            <a:r>
              <a:rPr lang="en-US" sz="1100" dirty="0"/>
              <a:t>i</a:t>
            </a:r>
            <a:r>
              <a:rPr sz="1100" dirty="0"/>
              <a:t>ation, monitoring) and data observability platform. Define SLAs.</a:t>
            </a:r>
          </a:p>
          <a:p>
            <a:pPr>
              <a:spcAft>
                <a:spcPts val="800"/>
              </a:spcAft>
            </a:pPr>
            <a:r>
              <a:rPr lang="en-US" sz="1200" b="1" dirty="0">
                <a:solidFill>
                  <a:srgbClr val="1A237E"/>
                </a:solidFill>
              </a:rPr>
              <a:t>4 – </a:t>
            </a:r>
            <a:r>
              <a:rPr lang="en-US" sz="1200" b="1" dirty="0" err="1">
                <a:solidFill>
                  <a:srgbClr val="1A237E"/>
                </a:solidFill>
              </a:rPr>
              <a:t>DataOps</a:t>
            </a:r>
            <a:r>
              <a:rPr lang="en-US" sz="1200" b="1" dirty="0">
                <a:solidFill>
                  <a:srgbClr val="1A237E"/>
                </a:solidFill>
              </a:rPr>
              <a:t> &amp; CI/CD: </a:t>
            </a:r>
            <a:r>
              <a:rPr lang="en-US" sz="1100" dirty="0"/>
              <a:t>Implement CI/CD for data pipelines, automated testing, monitoring/alerting, and incident response.</a:t>
            </a:r>
            <a:endParaRPr sz="1100" dirty="0"/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1A237E"/>
                </a:solidFill>
              </a:rPr>
              <a:t>5 – Security &amp; Compliance: </a:t>
            </a:r>
            <a:r>
              <a:rPr sz="1100" dirty="0"/>
              <a:t>Deploy data privacy framework, masking/tokenization, access governance automation, and audit logging.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1A237E"/>
                </a:solidFill>
              </a:rPr>
              <a:t>6 – Analytics Enablement: </a:t>
            </a:r>
            <a:r>
              <a:rPr sz="1100" dirty="0"/>
              <a:t>Enable self-service analytics, deploy semantic layer, onboard EDA sandbox users, establish reporting standards.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1A237E"/>
                </a:solidFill>
              </a:rPr>
              <a:t>7 – Metadata &amp; Lineage: </a:t>
            </a:r>
            <a:r>
              <a:rPr sz="1100" dirty="0"/>
              <a:t>Integrate Unity Catalog and Informatica; implement end-to-end cross-system lineage.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1A237E"/>
                </a:solidFill>
              </a:rPr>
              <a:t>8 – Advanced Capabilities: </a:t>
            </a:r>
            <a:r>
              <a:rPr sz="1100" dirty="0"/>
              <a:t>Adopt data product management, ML/AI model governance, data virtualization.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Maturity Roadmap Vision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1400" b="1" dirty="0">
                <a:solidFill>
                  <a:srgbClr val="1A237E"/>
                </a:solidFill>
              </a:rPr>
              <a:t>Bronze (Score 2 – Developing)
</a:t>
            </a:r>
            <a:r>
              <a:rPr sz="1200" dirty="0"/>
              <a:t>Core processes documented </a:t>
            </a:r>
            <a:r>
              <a:rPr lang="en-US" sz="1200" dirty="0"/>
              <a:t>•</a:t>
            </a:r>
            <a:r>
              <a:rPr sz="1200" dirty="0"/>
              <a:t> Core LDM implemented • Basic monitoring in place • CI/CD for infrastructure • DQ rules for critical datasets • Governance formalized</a:t>
            </a:r>
          </a:p>
          <a:p>
            <a:pPr>
              <a:spcAft>
                <a:spcPts val="1400"/>
              </a:spcAft>
            </a:pPr>
            <a:r>
              <a:rPr sz="1400" b="1" dirty="0">
                <a:solidFill>
                  <a:srgbClr val="1A237E"/>
                </a:solidFill>
              </a:rPr>
              <a:t>Silver (Score 3 – Defined)
</a:t>
            </a:r>
            <a:r>
              <a:rPr sz="1200" dirty="0"/>
              <a:t>Standardized across teams • Automated DQ monitoring • Full CI/CD for pipelines • Data catalog integrated • Self-service analytics pilot</a:t>
            </a:r>
          </a:p>
          <a:p>
            <a:pPr>
              <a:spcAft>
                <a:spcPts val="1400"/>
              </a:spcAft>
            </a:pPr>
            <a:r>
              <a:rPr sz="1400" b="1" dirty="0">
                <a:solidFill>
                  <a:srgbClr val="1A237E"/>
                </a:solidFill>
              </a:rPr>
              <a:t>Gold (Score 4 – Managed)
</a:t>
            </a:r>
            <a:r>
              <a:rPr sz="1200" dirty="0"/>
              <a:t>KPIs/SLAs tracked &amp; acted upon • End-to-end observability • Data products adopted • Automated access governance • ML model lifecycle managed</a:t>
            </a:r>
          </a:p>
          <a:p>
            <a:pPr>
              <a:spcAft>
                <a:spcPts val="1400"/>
              </a:spcAft>
            </a:pPr>
            <a:r>
              <a:rPr sz="1400" b="1" dirty="0">
                <a:solidFill>
                  <a:srgbClr val="1A237E"/>
                </a:solidFill>
              </a:rPr>
              <a:t>Platinum (Score 5 – Optimizing)
</a:t>
            </a:r>
            <a:r>
              <a:rPr sz="1200" dirty="0"/>
              <a:t>AI-augmented data management • Full self-service • Continuous improvement culture • Innovation-driven • Leading-practice data mesh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M2bqDxQIOBWziIghVoe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M2bqDxQIOBWziIghVoe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heme/theme1.xml><?xml version="1.0" encoding="utf-8"?>
<a:theme xmlns:a="http://schemas.openxmlformats.org/drawingml/2006/main" name="2_Group Strategy Template 2019">
  <a:themeElements>
    <a:clrScheme name="Group Strategy Color Scheme">
      <a:dk1>
        <a:srgbClr val="2D2926"/>
      </a:dk1>
      <a:lt1>
        <a:srgbClr val="FFFFFF"/>
      </a:lt1>
      <a:dk2>
        <a:srgbClr val="C00000"/>
      </a:dk2>
      <a:lt2>
        <a:srgbClr val="000000"/>
      </a:lt2>
      <a:accent1>
        <a:srgbClr val="FFFFFF"/>
      </a:accent1>
      <a:accent2>
        <a:srgbClr val="9D928B"/>
      </a:accent2>
      <a:accent3>
        <a:srgbClr val="AB8A54"/>
      </a:accent3>
      <a:accent4>
        <a:srgbClr val="3F3F3F"/>
      </a:accent4>
      <a:accent5>
        <a:srgbClr val="003860"/>
      </a:accent5>
      <a:accent6>
        <a:srgbClr val="FFD430"/>
      </a:accent6>
      <a:hlink>
        <a:srgbClr val="0000FF"/>
      </a:hlink>
      <a:folHlink>
        <a:srgbClr val="7F7F7F"/>
      </a:folHlink>
    </a:clrScheme>
    <a:fontScheme name="Group Strategy Font Setting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lIns="0" tIns="0" rIns="0" bIns="0" rtlCol="0" anchor="t">
        <a:noAutofit/>
      </a:bodyPr>
      <a:lstStyle>
        <a:defPPr marL="285750" indent="-285750">
          <a:buClr>
            <a:srgbClr val="C00000"/>
          </a:buClr>
          <a:buFont typeface="Arial" panose="020B0604020202020204" pitchFamily="34" charset="0"/>
          <a:buChar char="•"/>
          <a:defRPr sz="1600" dirty="0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roup Strategy Template 2019" id="{9745A5BC-9F30-47DF-B568-2921C665BFAB}" vid="{E69A3F49-0FDF-4CF2-B309-CD0B30A61F46}"/>
    </a:ext>
  </a:extLst>
</a:theme>
</file>

<file path=ppt/theme/theme2.xml><?xml version="1.0" encoding="utf-8"?>
<a:theme xmlns:a="http://schemas.openxmlformats.org/drawingml/2006/main" name="Group Strategy Template 2019">
  <a:themeElements>
    <a:clrScheme name="Group Strategy Color Scheme">
      <a:dk1>
        <a:srgbClr val="2D2926"/>
      </a:dk1>
      <a:lt1>
        <a:srgbClr val="FFFFFF"/>
      </a:lt1>
      <a:dk2>
        <a:srgbClr val="C00000"/>
      </a:dk2>
      <a:lt2>
        <a:srgbClr val="000000"/>
      </a:lt2>
      <a:accent1>
        <a:srgbClr val="FFFFFF"/>
      </a:accent1>
      <a:accent2>
        <a:srgbClr val="9D928B"/>
      </a:accent2>
      <a:accent3>
        <a:srgbClr val="AB8A54"/>
      </a:accent3>
      <a:accent4>
        <a:srgbClr val="3F3F3F"/>
      </a:accent4>
      <a:accent5>
        <a:srgbClr val="003860"/>
      </a:accent5>
      <a:accent6>
        <a:srgbClr val="FFD430"/>
      </a:accent6>
      <a:hlink>
        <a:srgbClr val="0000FF"/>
      </a:hlink>
      <a:folHlink>
        <a:srgbClr val="7F7F7F"/>
      </a:folHlink>
    </a:clrScheme>
    <a:fontScheme name="Group Strategy Font Setting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lIns="0" tIns="0" rIns="0" bIns="0" rtlCol="0" anchor="t">
        <a:noAutofit/>
      </a:bodyPr>
      <a:lstStyle>
        <a:defPPr marL="285750" indent="-285750">
          <a:buClr>
            <a:srgbClr val="C00000"/>
          </a:buClr>
          <a:buFont typeface="Arial" panose="020B0604020202020204" pitchFamily="34" charset="0"/>
          <a:buChar char="•"/>
          <a:defRPr sz="1600" dirty="0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roup Strategy Template 2019" id="{9745A5BC-9F30-47DF-B568-2921C665BFAB}" vid="{E69A3F49-0FDF-4CF2-B309-CD0B30A61F4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1574</Words>
  <Application>Microsoft Office PowerPoint</Application>
  <PresentationFormat>Custom</PresentationFormat>
  <Paragraphs>185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Times New Roman</vt:lpstr>
      <vt:lpstr>Trebuchet MS</vt:lpstr>
      <vt:lpstr>Verdana</vt:lpstr>
      <vt:lpstr>2_Group Strategy Template 2019</vt:lpstr>
      <vt:lpstr>Group Strategy Template 2019</vt:lpstr>
      <vt:lpstr>think-cell Slide</vt:lpstr>
      <vt:lpstr>Data Platform Capability Assessment</vt:lpstr>
      <vt:lpstr>Agenda</vt:lpstr>
      <vt:lpstr>Assessment Overview &amp; Methodology</vt:lpstr>
      <vt:lpstr>Overall Platform Maturity Score</vt:lpstr>
      <vt:lpstr>Domain Capability Heat Map</vt:lpstr>
      <vt:lpstr>Key Findings &amp; Critical Gaps</vt:lpstr>
      <vt:lpstr>1. Data Integration (Score: 1.7)</vt:lpstr>
      <vt:lpstr>2. Data Management (Score: 1.4)</vt:lpstr>
      <vt:lpstr>3. Data Quality Management (Score: 1.0)</vt:lpstr>
      <vt:lpstr>4. Analytics (Score: 1.4)</vt:lpstr>
      <vt:lpstr>5. Metadata Management (Score: 1.7)</vt:lpstr>
      <vt:lpstr>6. Security &amp; Compliance (Score: 1.4)</vt:lpstr>
      <vt:lpstr>7. Data Governance (Score: 1.4)</vt:lpstr>
      <vt:lpstr>8. Supporting Technology (Score: 1.4)</vt:lpstr>
      <vt:lpstr>Recommended Priorities &amp; Next Steps</vt:lpstr>
      <vt:lpstr>Maturity Roadmap Vision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Gokhan Imral</cp:lastModifiedBy>
  <cp:revision>2</cp:revision>
  <dcterms:created xsi:type="dcterms:W3CDTF">2013-01-27T09:14:16Z</dcterms:created>
  <dcterms:modified xsi:type="dcterms:W3CDTF">2026-04-12T10:20:23Z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aa88fe9-e822-4727-abde-1b56444e8f2b_Enabled">
    <vt:lpwstr>true</vt:lpwstr>
  </property>
  <property fmtid="{D5CDD505-2E9C-101B-9397-08002B2CF9AE}" pid="3" name="MSIP_Label_caa88fe9-e822-4727-abde-1b56444e8f2b_SetDate">
    <vt:lpwstr>2026-03-31T05:55:19Z</vt:lpwstr>
  </property>
  <property fmtid="{D5CDD505-2E9C-101B-9397-08002B2CF9AE}" pid="4" name="MSIP_Label_caa88fe9-e822-4727-abde-1b56444e8f2b_Method">
    <vt:lpwstr>Standard</vt:lpwstr>
  </property>
  <property fmtid="{D5CDD505-2E9C-101B-9397-08002B2CF9AE}" pid="5" name="MSIP_Label_caa88fe9-e822-4727-abde-1b56444e8f2b_Name">
    <vt:lpwstr>RAKBANK-Internal for files</vt:lpwstr>
  </property>
  <property fmtid="{D5CDD505-2E9C-101B-9397-08002B2CF9AE}" pid="6" name="MSIP_Label_caa88fe9-e822-4727-abde-1b56444e8f2b_SiteId">
    <vt:lpwstr>fbb70b95-2828-4ce3-90d5-c6e1ff243618</vt:lpwstr>
  </property>
  <property fmtid="{D5CDD505-2E9C-101B-9397-08002B2CF9AE}" pid="7" name="MSIP_Label_caa88fe9-e822-4727-abde-1b56444e8f2b_ActionId">
    <vt:lpwstr>47d21fea-479a-4555-b9b9-742e77de858b</vt:lpwstr>
  </property>
  <property fmtid="{D5CDD505-2E9C-101B-9397-08002B2CF9AE}" pid="8" name="MSIP_Label_caa88fe9-e822-4727-abde-1b56444e8f2b_ContentBits">
    <vt:lpwstr>2</vt:lpwstr>
  </property>
  <property fmtid="{D5CDD505-2E9C-101B-9397-08002B2CF9AE}" pid="9" name="MSIP_Label_caa88fe9-e822-4727-abde-1b56444e8f2b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Classification: RAKBANK-Internal</vt:lpwstr>
  </property>
</Properties>
</file>